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39D3F3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8B5C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5486400"/>
            <a:ext cx="1645920" cy="1645920"/>
          </a:xfrm>
          <a:prstGeom prst="ellipse">
            <a:avLst/>
          </a:prstGeom>
          <a:solidFill>
            <a:srgbClr val="3FB95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39D3F3"/>
                </a:solidFill>
                <a:latin typeface="Microsoft YaHei"/>
              </a:defRPr>
            </a:pPr>
            <a:r>
              <a:t>iStudySpot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5"/>
                </a:solidFill>
                <a:latin typeface="Microsoft YaHei"/>
              </a:defRPr>
            </a:pPr>
            <a:r>
              <a:t>智能自习室预订系统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474720"/>
            <a:ext cx="2560320" cy="508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Microsoft YaHei"/>
              </a:defRPr>
            </a:pPr>
            <a:r>
              <a:t>项目汇报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86472"/>
                </a:solidFill>
                <a:latin typeface="Microsoft YaHei"/>
              </a:defRPr>
            </a:pPr>
            <a:r>
              <a:t>余逸晨  |  黄益政  |  贺祥宇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60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6472"/>
                </a:solidFill>
                <a:latin typeface="Microsoft YaHei"/>
              </a:defRPr>
            </a:pPr>
            <a:r>
              <a:t>2026 年 6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Microsoft YaHei"/>
              </a:defRPr>
            </a:pPr>
            <a:r>
              <a:t>总览项目汇报结构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89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73736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12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团队分工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35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338328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83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58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核心技术栈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420624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58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81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核心功能一览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502920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04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AI 智能能力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585216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389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多端协同实现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73736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12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56032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83E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035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微信小程序接口隔离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338328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58A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858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安全与性能优化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20624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681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DevOps &amp; CI/CD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502920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486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504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  <a:latin typeface="Microsoft YaHei"/>
              </a:defRPr>
            </a:pPr>
            <a:r>
              <a:t>项目亮点与总结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5852160"/>
            <a:ext cx="411480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381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883E"/>
                </a:solidFill>
                <a:latin typeface="Microsoft YaHei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72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市场痛点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考研、考公、考证人数持续增长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传统自习室人工管理效率低下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高峰期座位争抢，排队体验差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缺乏在线预订与实时状态查询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计费结算不透明，易产生纠纷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管理者无法准确统计上座率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7472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347472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D3F3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983480" y="1572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打造一站式在线自习室预订平台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微信小程序 + Android + Web 多端覆盖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AI 智能对话与学习激励卡片系统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Redis 分布式锁解决高并发抢座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自动计费、在线支付、扫码签到签退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可视化数据统计助力经营管理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7472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778240" y="1572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目标用户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考研、考公、考证备考学生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需要安静环境的大学生群体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远程办公的自由职业者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需要临时工位的商务人士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自习室/共享空间经营者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团队分工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1737360"/>
            <a:ext cx="1097280" cy="1097280"/>
          </a:xfrm>
          <a:prstGeom prst="ellipse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9659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Microsoft YaHei"/>
              </a:defRPr>
            </a:pPr>
            <a:r>
              <a:t>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余逸晨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Microsoft YaHei"/>
              </a:defRPr>
            </a:pPr>
            <a:r>
              <a:t>2312190113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246888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后端全栈开发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数据库设计与迁移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核心业务逻辑（预订/计费/并发）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AI 集成（DeepSeek + 即梦AI）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Docker 容器化部署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JWT 认证与安全配置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56616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1737360"/>
            <a:ext cx="1097280" cy="10972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9659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Microsoft YaHei"/>
              </a:defRPr>
            </a:pPr>
            <a:r>
              <a:t>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黄益政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Microsoft YaHei"/>
              </a:defRPr>
            </a:pPr>
            <a:r>
              <a:t>2312190331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840480"/>
            <a:ext cx="246888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11480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Android App 开发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管理端功能实现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数据统计大屏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Kotlin + Jetpack 架构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MPAndroidChart 可视化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Retrofit 网络层封装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71600"/>
            <a:ext cx="356616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64040" y="173736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19659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Microsoft YaHei"/>
              </a:defRPr>
            </a:pPr>
            <a:r>
              <a:t>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贺祥宇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383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Microsoft YaHei"/>
              </a:defRPr>
            </a:pPr>
            <a:r>
              <a:t>2312190107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840480"/>
            <a:ext cx="2468880" cy="635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11480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微信小程序开发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座位图可视化（Canvas）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用户端交互体验设计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Vant Weapp 组件集成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ECharts 数据可视化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Figma 原型设计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12801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0800" cy="12801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Microsoft YaHei"/>
              </a:defRPr>
            </a:pPr>
            <a:r>
              <a:t>客户端层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Microsoft YaHei"/>
              </a:defRPr>
            </a:pPr>
            <a:r>
              <a:t>微信小程序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Microsoft YaHei"/>
              </a:defRPr>
            </a:pPr>
            <a:r>
              <a:t>Android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Microsoft YaHei"/>
              </a:defRPr>
            </a:pPr>
            <a:r>
              <a:t>Admin 管理后台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64240" cy="12801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50800" cy="128016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9D3F3"/>
                </a:solidFill>
                <a:latin typeface="Microsoft YaHei"/>
              </a:defRPr>
            </a:pPr>
            <a:r>
              <a:t>服务层 (Spring Boot)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Microsoft YaHei"/>
              </a:defRPr>
            </a:pPr>
            <a:r>
              <a:t>用户服务  ·  座位服务  ·  订单服务  ·  计费服务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Microsoft YaHei"/>
              </a:defRPr>
            </a:pPr>
            <a:r>
              <a:t>规则服务  ·  公告服务  ·  AI 服务  ·  卡片服务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337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Microsoft YaHei"/>
              </a:defRPr>
            </a:pPr>
            <a:r>
              <a:t>成就服务  ·  统计服务  ·  Agent服务  ·  支付服务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11064240" cy="12801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50800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MySQL 8.0 主数据库</a:t>
            </a:r>
          </a:p>
          <a:p>
            <a:pPr>
              <a:spcAft>
                <a:spcPts val="2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Redis 缓存 / 分布式锁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6472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6472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核心技术栈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D3F3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8872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后端核心技术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Spring Boot 3.1.2 框架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MyBatis 3.0.2 ORM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MySQL 8.0 + Redis 7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JWT 认证 (jjwt 0.11.5)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Flyway 数据库迁移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Sentry 错误监控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JaCoCo 测试覆盖率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DeepSeek / 即梦AI 集成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56616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02920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前端技术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微信小程序原生框架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Vant Weapp UI 组件库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Kotlin + Jetpack MVVM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Retrofit 网络请求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React + Vite 管理后台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ECharts 数据可视化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Canvas 座位图绘制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MPAndroidChart 图表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56616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86968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DevOps 工具链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01168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Docker + docker-compose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GitHub Actions CI/CD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Codecov 覆盖率追踪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Maven 构建管理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Nginx 反向代理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多阶段 Docker 构建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数据卷持久化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环境变量配置管理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核心功能一览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9D3F3"/>
                </a:solidFill>
                <a:latin typeface="Microsoft YaHei"/>
              </a:defRPr>
            </a:pPr>
            <a:r>
              <a:t>用户系统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微信登录 · 注册 · 信息管理 · 头像上传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9748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813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自习室管理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列表查询 · 详情 · 多条件筛选 · 规则展示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9748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813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Microsoft YaHei"/>
              </a:defRPr>
            </a:pPr>
            <a:r>
              <a:t>座位管理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座位列表 · 布局可视化 · 行列筛选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7160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697480" cy="254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813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83E"/>
                </a:solidFill>
                <a:latin typeface="Microsoft YaHei"/>
              </a:defRPr>
            </a:pPr>
            <a:r>
              <a:t>预约系统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创建 · 取消 · 续时 · 支付 · 规则查询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65176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651760"/>
            <a:ext cx="2697480" cy="25400"/>
          </a:xfrm>
          <a:prstGeom prst="rect">
            <a:avLst/>
          </a:prstGeom>
          <a:solidFill>
            <a:srgbClr val="E8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7614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558A"/>
                </a:solidFill>
                <a:latin typeface="Microsoft YaHei"/>
              </a:defRPr>
            </a:pPr>
            <a:r>
              <a:t>签到签退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扫码签到 · 签退结算 · 时长统计 · 连续打卡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265176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265176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27614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9D3F3"/>
                </a:solidFill>
                <a:latin typeface="Microsoft YaHei"/>
              </a:defRPr>
            </a:pPr>
            <a:r>
              <a:t>支付系统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余额支付 · 微信支付 · 回调处理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65176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651760"/>
            <a:ext cx="269748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7614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规则公告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分类规则 · 公告发布 · 优先级管理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265176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2651760"/>
            <a:ext cx="269748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27614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Microsoft YaHei"/>
              </a:defRPr>
            </a:pPr>
            <a:r>
              <a:t>成就系统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8种成就 · 自动解锁 · 进度追踪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3192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31920"/>
            <a:ext cx="2697480" cy="254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0416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83E"/>
                </a:solidFill>
                <a:latin typeface="Microsoft YaHei"/>
              </a:defRPr>
            </a:pPr>
            <a:r>
              <a:t>违规管理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434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违规记录 · 申诉机制 · 信用分数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393192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29000" y="3931920"/>
            <a:ext cx="2697480" cy="25400"/>
          </a:xfrm>
          <a:prstGeom prst="rect">
            <a:avLst/>
          </a:prstGeom>
          <a:solidFill>
            <a:srgbClr val="E8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40416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558A"/>
                </a:solidFill>
                <a:latin typeface="Microsoft YaHei"/>
              </a:defRPr>
            </a:pPr>
            <a:r>
              <a:t>AI 卡片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434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6级稀有度 · SSE流式 · 即梦AI配图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393192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393192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0416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9D3F3"/>
                </a:solidFill>
                <a:latin typeface="Microsoft YaHei"/>
              </a:defRPr>
            </a:pPr>
            <a:r>
              <a:t>AI 对话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434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角色扮演 · 流式聊天 · Agent工具调用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3931920"/>
            <a:ext cx="269748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9720" y="3931920"/>
            <a:ext cx="269748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0416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座位布局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4434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布局元素编辑 · 可视化配置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AI 智能能力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Microsoft YaHei"/>
              </a:defRPr>
            </a:pPr>
            <a:r>
              <a:t>DeepSeek 大模型 + 火山引擎即梦AI文生图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94944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94944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9D3F3"/>
                </a:solidFill>
                <a:latin typeface="Microsoft YaHei"/>
              </a:defRPr>
            </a:pPr>
            <a:r>
              <a:t>AI 卡片生成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6217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学习完成后，根据学习时长自动生成可收藏的 AI 卡片。</a:t>
            </a:r>
          </a:p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稀有度体系：N(40%) → R(30%) → SR(20%) → SSR(8%) → UR(1.5%) → LR(0.5%)</a:t>
            </a:r>
          </a:p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主题类别：励志成长 · 名人与历史 · 哲思感悟 · 自然意象 · 科技未来 · 温柔陪伴</a:t>
            </a:r>
          </a:p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文本生成：DeepSeek API  →  SSE 流式逐字返回，沉浸式体验</a:t>
            </a:r>
          </a:p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图片生成：火山引擎即梦AI文生图 3.0  →  自动下载并本地存储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AAAAA"/>
                </a:solidFill>
                <a:latin typeface="Microsoft YaHei"/>
              </a:defRPr>
            </a:pPr>
            <a: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FB950"/>
                </a:solidFill>
                <a:latin typeface="Microsoft YaHei"/>
              </a:defRPr>
            </a:pPr>
            <a: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9D3F3"/>
                </a:solidFill>
                <a:latin typeface="Microsoft YaHei"/>
              </a:defRPr>
            </a:pPr>
            <a:r>
              <a:t>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SSR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883E"/>
                </a:solidFill>
                <a:latin typeface="Microsoft YaHei"/>
              </a:defRPr>
            </a:pPr>
            <a:r>
              <a:t>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558A"/>
                </a:solidFill>
                <a:latin typeface="Microsoft YaHei"/>
              </a:defRPr>
            </a:pPr>
            <a:r>
              <a:t>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0.5%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371600"/>
            <a:ext cx="3749039" cy="21945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1371600"/>
            <a:ext cx="3749039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AI 角色对话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多角色扮演（客服/历史人物）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SSE 流式打字机效果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会话历史管理与上下文保持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DeepSeek API 驱动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840480"/>
            <a:ext cx="3749039" cy="23774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3840480"/>
            <a:ext cx="3749039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Microsoft YaHei"/>
              </a:defRPr>
            </a:pPr>
            <a:r>
              <a:t>AI Agent 智能助手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480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智能工具调用（查询自习室/座位/预约）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多轮复杂对话，自动理解意图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参数校验与错误处理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上下文管理，保持对话连贯性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多端协同实现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8872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微信小程序 · 用户端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微信一键登录，无缝体验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自习室浏览与座位图可视化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在线预约、支付、签到签退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AI 卡片收集与学习统计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28 个专用 API 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566160" cy="45720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883E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02920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Android App · 管理端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数据统计大屏，经营一目了然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座位配置与可视化布局编辑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订单管理与用户黑名单管理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Kotlin + Jetpack MVVM 架构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566160" cy="45720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86968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Admin 后台 ·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01168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React + Vite 现代化前端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自习室与座位批量配置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价格策略灵活设置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公告发布与规则管理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1A3040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6126480"/>
            <a:ext cx="38100" cy="4572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Microsoft YaHei"/>
              </a:defRPr>
            </a:pPr>
            <a:r>
              <a:t>🤝 三端共享同一 Spring Boot 后端服务，通过 /api/ 和 /api/wx/ 路径前缀实现接口隔离，统一 JWT 认证体系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Microsoft YaHei"/>
              </a:defRPr>
            </a:pPr>
            <a:r>
              <a:t>iseatspace · utf8mb4 · 19 张表 · InnoDB 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69748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9D3F3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69748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71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FB950"/>
                </a:solidFill>
                <a:latin typeface="Microsoft YaHei"/>
              </a:defRPr>
            </a:pPr>
            <a: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Microsoft YaHei"/>
              </a:defRPr>
            </a:pPr>
            <a:r>
              <a:t>字段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269748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Microsoft YaHei"/>
              </a:defRPr>
            </a:pPr>
            <a:r>
              <a:t>视图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280160"/>
            <a:ext cx="269748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371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883E"/>
                </a:solidFill>
                <a:latin typeface="Microsoft YaHei"/>
              </a:defRPr>
            </a:pPr>
            <a:r>
              <a:t>15+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Microsoft YaHei"/>
              </a:defRPr>
            </a:pPr>
            <a:r>
              <a:t>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468880"/>
            <a:ext cx="356616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356616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9D3F3"/>
                </a:solidFill>
                <a:latin typeface="Microsoft YaHei"/>
              </a:defRPr>
            </a:pPr>
            <a:r>
              <a:t>核心业务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user 用户表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study_room 自习室表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seat 座位表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order 订单表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payment 支付表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check_in_record 签到记录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468880"/>
            <a:ext cx="356616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468880"/>
            <a:ext cx="356616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扩展功能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0175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card AI 卡片表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rule 规则表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announcement 公告表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achievement 成就定义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user_achievement 用户成就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violation_record 违规记录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468880"/>
            <a:ext cx="356616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468880"/>
            <a:ext cx="356616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Microsoft YaHei"/>
              </a:defRPr>
            </a:pPr>
            <a:r>
              <a:t>辅助支撑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175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area 区域表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price_strategy 价格策略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order_detail 订单明细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payment_log 支付流水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seat_status_log 座位状态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seat_layout_item 布局元素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▸ blacklist 黑名单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77840"/>
            <a:ext cx="11064240" cy="914400"/>
          </a:xfrm>
          <a:prstGeom prst="roundRect">
            <a:avLst/>
          </a:prstGeom>
          <a:solidFill>
            <a:srgbClr val="251818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577840"/>
            <a:ext cx="38100" cy="9144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83E"/>
                </a:solidFill>
                <a:latin typeface="Microsoft YaHei"/>
              </a:defRPr>
            </a:pPr>
            <a:r>
              <a:t>Redis 缓存策略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座位状态缓存(Hash)  │  价格缓存(1h)  │  分布式锁(3s超时)  │  JWT Token(7天)  │  黑名单缓存  │  自习室信息(1h)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微信小程序接口隔离设计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6459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9D3F3"/>
                </a:solidFill>
                <a:latin typeface="Microsoft YaHei"/>
              </a:defRPr>
            </a:pPr>
            <a:r>
              <a:t>设计原则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统一前缀 /api/wx/    →    独立 Wx*Controller 类    →    独立 DTO 映射    →    与原有接口互不影响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原有接口 (/api/) 和微信小程序接口 (/api/wx/) 各自独立运行，同一套 JWT 认证，统一的响应格式 {code, message, data, timestamp}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2697480" cy="1417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用户模块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5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Microsoft YaHei"/>
              </a:defRPr>
            </a:pPr>
            <a:r>
              <a:t>登录 · 信息 · 修改 · 头像 · 首页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291840"/>
            <a:ext cx="2697480" cy="1417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329184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自习室模块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033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2 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114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Microsoft YaHei"/>
              </a:defRPr>
            </a:pPr>
            <a:r>
              <a:t>列表 · 详情(含规则)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91840"/>
            <a:ext cx="2697480" cy="1417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29184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座位模块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033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3 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14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Microsoft YaHei"/>
              </a:defRPr>
            </a:pPr>
            <a:r>
              <a:t>列表 · 布局 · 详情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291840"/>
            <a:ext cx="2697480" cy="1417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329184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383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预约模块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7033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5 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114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Microsoft YaHei"/>
              </a:defRPr>
            </a:pPr>
            <a:r>
              <a:t>创建 · 列表 · 详情 · 取消 · 规则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37760"/>
            <a:ext cx="2697480" cy="1417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93776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029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签到模块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3492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4 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7607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Microsoft YaHei"/>
              </a:defRPr>
            </a:pPr>
            <a:r>
              <a:t>签到 · 签退 · 记录 · 状态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4937760"/>
            <a:ext cx="2697480" cy="1417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493776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5029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公告模块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3492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2 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7607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Microsoft YaHei"/>
              </a:defRPr>
            </a:pPr>
            <a:r>
              <a:t>列表 · 详情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937760"/>
            <a:ext cx="2697480" cy="1417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93776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5029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规则模块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492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2 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7607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Microsoft YaHei"/>
              </a:defRPr>
            </a:pPr>
            <a:r>
              <a:t>列表 · 详情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4937760"/>
            <a:ext cx="2697480" cy="1417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89720" y="4937760"/>
            <a:ext cx="269748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5029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卡片模块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3492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D3F3"/>
                </a:solidFill>
                <a:latin typeface="Microsoft YaHei"/>
              </a:defRPr>
            </a:pPr>
            <a:r>
              <a:t>5 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7607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Microsoft YaHei"/>
              </a:defRPr>
            </a:pPr>
            <a:r>
              <a:t>生成 · 流式 · 详情 · 列表 · 图片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安全与性能优化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38100"/>
          </a:xfrm>
          <a:prstGeom prst="rect">
            <a:avLst/>
          </a:prstGeom>
          <a:solidFill>
            <a:srgbClr val="E8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558A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88720" y="15727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安全防护体系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JWT 无状态认证，Token 7天有效期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JwtInterceptor 拦截器 + 白名单机制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CORS 跨域请求控制，限制来源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MyBatis #{} 预编译 → SQL 注入防护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文件上传限制 10MB，UUID 重命名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敏感密钥通过环境变量注入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Sentry 实时错误监控与告警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257800" cy="2560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25780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D3F3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995160" y="157276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高并发处理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Redis 分布式锁防止座位超卖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锁超时 3 秒自动释放，防止死锁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定时任务自动释放超时未支付订单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座位状态实时缓存，减少 DB 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160520"/>
            <a:ext cx="5257800" cy="2057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4160520"/>
            <a:ext cx="52578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995160" y="436168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0060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Redis 缓存热门数据（座位/价格/房间）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MySQL 多列索引（user_id / seat_id / 时间范围）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Docker 多阶段构建（1GB → 200MB）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连接池管理数据库连接，减少开销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DevOps &amp; CI/CD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D3F3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88720" y="15727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容器化部署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Dockerfile 多阶段构建（Maven → JRE）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Maven 依赖缓存加速构建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MySQL 8.0 + Redis 7 + Backend + Admin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docker-compose 一键启动全部服务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Docker Volume 数据持久化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.dockerignore 减小构建上下文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健康检查 + depends_on 启动顺序控制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257800" cy="48463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2578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995160" y="157276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Microsoft YaHei"/>
              </a:defRPr>
            </a:pPr>
            <a:r>
              <a:t>CI/CD 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GitHub Actions 自动构建与测试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3 条 CI 流水线（后端/Android/小程序）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Codecov 代码覆盖率追踪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Main + Develop 双分支保护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JaCoCo 测试报告自动生成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Sentry 生产环境错误追踪</a:t>
            </a:r>
          </a:p>
          <a:p>
            <a:pPr>
              <a:spcAft>
                <a:spcPts val="500"/>
              </a:spcAft>
              <a:defRPr sz="1200">
                <a:solidFill>
                  <a:srgbClr val="8B949E"/>
                </a:solidFill>
                <a:latin typeface="Microsoft YaHei"/>
              </a:defRPr>
            </a:pPr>
            <a:r>
              <a:t>• Flyway 数据库版本迁移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446520"/>
            <a:ext cx="11064240" cy="320040"/>
          </a:xfrm>
          <a:prstGeom prst="roundRect">
            <a:avLst/>
          </a:prstGeom>
          <a:solidFill>
            <a:srgbClr val="203025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Microsoft YaHei"/>
              </a:defRPr>
            </a:pPr>
            <a:r>
              <a:t>docker-compose up -d   →   Backend :8680  |  Admin :3001  |  MySQL :3306  |  Redis :6379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项目亮点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22860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9D3F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Microsoft YaHei"/>
              </a:defRPr>
            </a:pPr>
            <a:r>
              <a:t>多端协同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一套后端服务同时支撑微信小程序、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Android App、Web管理后台三端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566160" cy="22860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FB95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Microsoft YaHei"/>
              </a:defRPr>
            </a:pPr>
            <a:r>
              <a:t>AI 深度融合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DeepSeek大模型驱动智能对话 +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AI卡片游戏化激励 + Agent工具调用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566160" cy="22860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08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Microsoft YaHei"/>
              </a:defRPr>
            </a:pPr>
            <a:r>
              <a:t>接口隔离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微信小程序 /api/wx/ 前缀独立路由，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独立 Controller + DTO，互不影响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40"/>
            <a:ext cx="3566160" cy="22860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3566160" cy="381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883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Microsoft YaHei"/>
              </a:defRPr>
            </a:pPr>
            <a:r>
              <a:t>高并发处理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Redis 分布式锁防止座位超卖，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定时任务自动释放超时订单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977640"/>
            <a:ext cx="3566160" cy="22860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977640"/>
            <a:ext cx="3566160" cy="38100"/>
          </a:xfrm>
          <a:prstGeom prst="rect">
            <a:avLst/>
          </a:prstGeom>
          <a:solidFill>
            <a:srgbClr val="E8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114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558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Microsoft YaHei"/>
              </a:defRPr>
            </a:pPr>
            <a:r>
              <a:t>完善 DevOps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920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Docker 容器化一键部署，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GitHub Actions CI/CD 自动化流水线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977640"/>
            <a:ext cx="3566160" cy="22860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977640"/>
            <a:ext cx="356616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4114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9D3F3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Microsoft YaHei"/>
              </a:defRPr>
            </a:pPr>
            <a:r>
              <a:t>安全可靠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8920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JWT 认证 + 拦截器 + SQL防护 +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文件校验 + 环境变量密钥管理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项目数据一览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97480" cy="2011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69748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9D3F3"/>
                </a:solidFill>
                <a:latin typeface="Microsoft YaHei"/>
              </a:defRPr>
            </a:pPr>
            <a:r>
              <a:t>28+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Microsoft YaHei"/>
              </a:defRPr>
            </a:pPr>
            <a:r>
              <a:t>Controller 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697480" cy="2011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188720"/>
            <a:ext cx="269748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FB950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Microsoft YaHei"/>
              </a:defRPr>
            </a:pPr>
            <a:r>
              <a:t>API 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2697480" cy="2011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26974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B5CF6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188720"/>
            <a:ext cx="2697480" cy="2011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188720"/>
            <a:ext cx="2697480" cy="381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630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0883E"/>
                </a:solidFill>
                <a:latin typeface="Microsoft YaHei"/>
              </a:defRPr>
            </a:pPr>
            <a:r>
              <a:t>61%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68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Microsoft YaHei"/>
              </a:defRPr>
            </a:pPr>
            <a:r>
              <a:t>测试覆盖率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74720"/>
            <a:ext cx="2697480" cy="2011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2697480" cy="38100"/>
          </a:xfrm>
          <a:prstGeom prst="rect">
            <a:avLst/>
          </a:prstGeom>
          <a:solidFill>
            <a:srgbClr val="E8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490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558A"/>
                </a:solidFill>
                <a:latin typeface="Microsoft YaHei"/>
              </a:defRPr>
            </a:pPr>
            <a:r>
              <a:t>20+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Microsoft YaHei"/>
              </a:defRPr>
            </a:pPr>
            <a:r>
              <a:t>测试类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474720"/>
            <a:ext cx="2697480" cy="2011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3474720"/>
            <a:ext cx="269748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7490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9D3F3"/>
                </a:solidFill>
                <a:latin typeface="Microsoft YaHei"/>
              </a:defRPr>
            </a:pPr>
            <a:r>
              <a:t>15+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754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Microsoft YaHei"/>
              </a:defRPr>
            </a:pPr>
            <a:r>
              <a:t>Service 服务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474720"/>
            <a:ext cx="2697480" cy="2011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474720"/>
            <a:ext cx="269748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7490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FB950"/>
                </a:solidFill>
                <a:latin typeface="Microsoft YaHei"/>
              </a:defRPr>
            </a:pPr>
            <a:r>
              <a:t>28+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54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Microsoft YaHei"/>
              </a:defRPr>
            </a:pPr>
            <a:r>
              <a:t>Pull Request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474720"/>
            <a:ext cx="2697480" cy="2011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3474720"/>
            <a:ext cx="26974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7490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B5CF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754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Microsoft YaHei"/>
              </a:defRPr>
            </a:pPr>
            <a:r>
              <a:t>CI 流水线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52160"/>
            <a:ext cx="11064240" cy="640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Microsoft YaHei"/>
              </a:defRPr>
            </a:pPr>
            <a:r>
              <a:t>Spring Boot 3.1.2  ·  MyBatis 3.0.2  ·  MySQL 8.0  ·  Redis 7  ·  JWT  ·  DeepSeek API  ·  Docker  ·  GitHub Actions  ·  Codecov  ·  Sentry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254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9D3F3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2011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Microsoft YaHei"/>
              </a:defRPr>
            </a:pPr>
            <a:r>
              <a:t>已交付成果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Microsoft YaHei"/>
              </a:defRPr>
            </a:pPr>
            <a:r>
              <a:t>完整的在线自习室预订系统  ·  微信小程序 + Android + Web 三端  ·  AI 对话与卡片生成  ·  高并发抢座方案  ·  JWT 认证体系</a:t>
            </a:r>
            <a:br/>
            <a:r>
              <a:t>29 个微信小程序专用接口  ·  Docker 容器化部署  ·  GitHub Actions CI/CD  ·  19 张数据库表  ·  61% 后端测试覆盖率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303520" cy="2743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5303520" cy="381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83E"/>
                </a:solidFill>
                <a:latin typeface="Microsoft YaHei"/>
              </a:defRPr>
            </a:pPr>
            <a:r>
              <a:t>短期规划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接入更多 AI 模型（通义千问/文心一言）</a:t>
            </a:r>
          </a:p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增加排行榜、勋章等游戏化激励</a:t>
            </a:r>
          </a:p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WebSocket 实时座位状态推送</a:t>
            </a:r>
          </a:p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消息队列（RabbitMQ）解耦服务</a:t>
            </a:r>
          </a:p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优化 AI 卡片生成速度与质量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657600"/>
            <a:ext cx="5440680" cy="2743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657600"/>
            <a:ext cx="54406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技术沉淀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2976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Spring Boot 全栈开发最佳实践</a:t>
            </a:r>
          </a:p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多端接口隔离设计模式</a:t>
            </a:r>
          </a:p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AI API 集成与 SSE 流式处理</a:t>
            </a:r>
          </a:p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Docker 多阶段构建优化</a:t>
            </a:r>
          </a:p>
          <a:p>
            <a:pPr>
              <a:spcAft>
                <a:spcPts val="500"/>
              </a:spcAft>
              <a:defRPr sz="1300">
                <a:solidFill>
                  <a:srgbClr val="8B949E"/>
                </a:solidFill>
                <a:latin typeface="Microsoft YaHei"/>
              </a:defRPr>
            </a:pPr>
            <a:r>
              <a:t>▸ 分布式锁与并发控制经验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39D3F3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9D3F3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743200"/>
            <a:ext cx="2468880" cy="38100"/>
          </a:xfrm>
          <a:prstGeom prst="rect">
            <a:avLst/>
          </a:prstGeom>
          <a:solidFill>
            <a:srgbClr val="39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949E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114800"/>
            <a:ext cx="576072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4297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6472"/>
                </a:solidFill>
                <a:latin typeface="Microsoft YaHei"/>
              </a:defRPr>
            </a:pPr>
            <a:r>
              <a:t>项目地址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9D3F3"/>
                </a:solidFill>
                <a:latin typeface="Microsoft YaHei"/>
              </a:defRPr>
            </a:pPr>
            <a:r>
              <a:t>github.com/yu086868-ui/iStudySpot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943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6472"/>
                </a:solidFill>
                <a:latin typeface="Microsoft YaHei"/>
              </a:defRPr>
            </a:pPr>
            <a:r>
              <a:t>余逸晨 · 黄益政 · 贺祥宇  |  2026 年 6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6472"/>
                </a:solidFill>
                <a:latin typeface="Microsoft YaHei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