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7C4D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5029200"/>
            <a:ext cx="2286000" cy="2286000"/>
          </a:xfrm>
          <a:prstGeom prst="ellipse">
            <a:avLst/>
          </a:prstGeom>
          <a:solidFill>
            <a:srgbClr val="00E67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0" b="1">
                <a:solidFill>
                  <a:srgbClr val="00D4FF"/>
                </a:solidFill>
                <a:latin typeface="Microsoft YaHei"/>
              </a:defRPr>
            </a:pPr>
            <a:r>
              <a:t>iStudySpot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智能自习室预订系统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2743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B0BEC5"/>
                </a:solidFill>
                <a:latin typeface="Microsoft YaHei"/>
              </a:defRPr>
            </a:pPr>
            <a:r>
              <a:t>项 目 汇 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余逸晨 · 黄益政 · 贺祥宇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B7A"/>
                </a:solidFill>
                <a:latin typeface="Microsoft YaHei"/>
              </a:defRPr>
            </a:pPr>
            <a:r>
              <a:t>2026 年 6 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6035040"/>
            <a:ext cx="5029200" cy="4572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6080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Microsoft YaHei"/>
              </a:defRPr>
            </a:pPr>
            <a:r>
              <a:t>github.com/yu086868-ui/iStudySpot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00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768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042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团队分工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08376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455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9624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93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1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867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核心技术栈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90872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081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28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核心功能一览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32120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418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325880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4356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接口隔离设计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167128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2768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3042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AI 智能能力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008376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11810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100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1455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多端协同实现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849624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9593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081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9867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安全与性能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690872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4800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828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DevOps &amp; CI/CD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5532120"/>
            <a:ext cx="5303520" cy="6858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56418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669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项目亮点与总结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8463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市场痛点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考研、考公人群持续增长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传统自习室人工管理效率低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高峰期座位争抢问题严重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计费结算不透明易产生纠纷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无法实时掌握座位使用情况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缺乏在线预订与排队机制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8745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打造一站式在线自习室预订平台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微信小程序 + Android + Web 多端覆盖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AI 智能对话与学习激励卡片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Redis 分布式锁解决高并发抢座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在线支付 + 扫码签到签退 + 自动计费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可视化数据统计助力经营管理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474720" cy="48463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目标用户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考研、考公、考证备考学生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需要安静环境的大学生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远程办公的自由职业者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自习室 / 共享空间经营者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需要临时工位的商务人士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有学习打卡需求的群体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团队分工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93776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1691640"/>
            <a:ext cx="1280160" cy="12801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9202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余逸晨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2312190113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4023360"/>
            <a:ext cx="2103120" cy="6350"/>
          </a:xfrm>
          <a:prstGeom prst="rect">
            <a:avLst/>
          </a:prstGeom>
          <a:solidFill>
            <a:srgbClr val="2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后端全栈开发（Spring Boot）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数据库设计与 Flyway 迁移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核心业务逻辑（预订/计费/并发）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AI 集成（DeepSeek + 即梦AI）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Docker 容器化部署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JWT 认证与安全配置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CI/CD 流水线维护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566160" cy="493776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32120" y="1691640"/>
            <a:ext cx="1280160" cy="12801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9202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黄益政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2312190331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4023360"/>
            <a:ext cx="2103120" cy="6350"/>
          </a:xfrm>
          <a:prstGeom prst="rect">
            <a:avLst/>
          </a:prstGeom>
          <a:solidFill>
            <a:srgbClr val="2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Android App 完整开发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管理端功能实现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数据统计大屏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Kotlin + Jetpack MVVM 架构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MPAndroidChart 可视化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Retrofit 网络层封装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安全扫描与代码审查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371600"/>
            <a:ext cx="3566160" cy="493776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2600" y="1691640"/>
            <a:ext cx="1280160" cy="128016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92024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贺祥宇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2312190107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4023360"/>
            <a:ext cx="2103120" cy="6350"/>
          </a:xfrm>
          <a:prstGeom prst="rect">
            <a:avLst/>
          </a:prstGeom>
          <a:solidFill>
            <a:srgbClr val="25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微信小程序完整开发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座位图可视化（Canvas）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用户端交互与体验设计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Vant Weapp 组件集成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ECharts 数据可视化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Figma 原型设计</a:t>
            </a:r>
          </a:p>
          <a:p>
            <a:pPr>
              <a:spcAft>
                <a:spcPts val="4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▸ 小程序测试与覆盖率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11430000" cy="15544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800" cy="1554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客 户 端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微信小程序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28 个 API</a:t>
            </a:r>
            <a:br/>
            <a:r>
              <a:t>用户预订端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Android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Kotlin + Jetpack</a:t>
            </a:r>
            <a:br/>
            <a:r>
              <a:t>管理数据端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Admin 后台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React + Vite</a:t>
            </a:r>
            <a:br/>
            <a:r>
              <a:t>Web 管理端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00400"/>
            <a:ext cx="11430000" cy="15544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0800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服 务 层  ·  Spring 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Controller 30个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RESTful API</a:t>
            </a:r>
            <a:br/>
            <a:r>
              <a:t>接口路由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Service 23个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业务逻辑</a:t>
            </a:r>
            <a:br/>
            <a:r>
              <a:t>核心处理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Mapper 14个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数据访问</a:t>
            </a:r>
            <a:br/>
            <a:r>
              <a:t>MyBatis ORM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029200"/>
            <a:ext cx="11430000" cy="15544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800" cy="15544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Microsoft YaHei"/>
              </a:defRPr>
            </a:pPr>
            <a:r>
              <a:t>数 据 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MySQL 8.0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19 张表</a:t>
            </a:r>
            <a:br/>
            <a:r>
              <a:t>主数据库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Redis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缓存 · 分布式锁</a:t>
            </a:r>
            <a:br/>
            <a:r>
              <a:t>Token 存储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Flyway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数据库版本迁移</a:t>
            </a:r>
            <a:br/>
            <a:r>
              <a:t>27 个迁移脚本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971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B7A"/>
                </a:solidFill>
                <a:latin typeface="Microsoft YaHei"/>
              </a:defRPr>
            </a:pPr>
            <a:r>
              <a:t>▼  ▼  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800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B7A"/>
                </a:solidFill>
                <a:latin typeface="Microsoft YaHei"/>
              </a:defRPr>
            </a:pPr>
            <a:r>
              <a:t>▼  ▼  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8463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后端技术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Spring Boot 3.1.2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Spring MVC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MyBatis 3.0.2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MySQL 8.0 + Redis 7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JWT (jjwt 0.11.5)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Flyway 数据库迁移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Maven 构建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JaCoCo 覆盖率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566160" cy="48463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前端技术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微信小程序原生框架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Vant Weapp 组件库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Kotlin + Jetpack MVVM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Retrofit 网络请求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React + Vite + Ant Design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ECharts 数据可视化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Canvas 座位图引擎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MPAndroidChart 图表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566160" cy="48463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&amp;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745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DeepSeek API (对话/卡片)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火山引擎即梦AI文生图3.0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SSE 流式传输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Docker + docker-compose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GitHub Actions CI/CD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Codecov 覆盖率追踪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Sentry 错误监控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CodeQL 安全分析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核心功能一览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用户系统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微信登录 · 注册 · 信息管理 · 头像上传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97480" cy="25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自习室管理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列表 · 详情 · 多条件筛选 · 规则展示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97480" cy="254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Microsoft YaHei"/>
              </a:defRPr>
            </a:pPr>
            <a:r>
              <a:t>座位管理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座位列表 · 布局可视化 · 行列筛选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7160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697480" cy="254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630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100"/>
                </a:solidFill>
                <a:latin typeface="Microsoft YaHei"/>
              </a:defRPr>
            </a:pPr>
            <a:r>
              <a:t>预约系统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创建 · 取消 · 续时 · 支付 · 规则查询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65176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651760"/>
            <a:ext cx="2697480" cy="25400"/>
          </a:xfrm>
          <a:prstGeom prst="rect">
            <a:avLst/>
          </a:prstGeom>
          <a:solidFill>
            <a:srgbClr val="FF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081"/>
                </a:solidFill>
                <a:latin typeface="Microsoft YaHei"/>
              </a:defRPr>
            </a:pPr>
            <a:r>
              <a:t>签到签退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扫码签到 · 签退结算 · 时长统计 · 连续打卡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265176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265176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支付系统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余额支付 · 微信支付 · 回调处理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65176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651760"/>
            <a:ext cx="2697480" cy="25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规则公告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分类规则 · 公告发布 · 优先级管理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265176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2651760"/>
            <a:ext cx="2697480" cy="254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27432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4DFF"/>
                </a:solidFill>
                <a:latin typeface="Microsoft YaHei"/>
              </a:defRPr>
            </a:pPr>
            <a:r>
              <a:t>成就系统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154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8 种成就 · 自动解锁 · 进度追踪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3192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31920"/>
            <a:ext cx="2697480" cy="254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100"/>
                </a:solidFill>
                <a:latin typeface="Microsoft YaHei"/>
              </a:defRPr>
            </a:pPr>
            <a:r>
              <a:t>违规管理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434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违规记录 · 申诉机制 · 信用分数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393192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29000" y="3931920"/>
            <a:ext cx="2697480" cy="25400"/>
          </a:xfrm>
          <a:prstGeom prst="rect">
            <a:avLst/>
          </a:prstGeom>
          <a:solidFill>
            <a:srgbClr val="FF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081"/>
                </a:solidFill>
                <a:latin typeface="Microsoft YaHei"/>
              </a:defRPr>
            </a:pPr>
            <a:r>
              <a:t>AI 卡片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434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6 级稀有度 · 流式生成 · 即梦AI配图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393192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393192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AI 对话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434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角色扮演 · 流式聊天 · Agent 工具调用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3931920"/>
            <a:ext cx="2697480" cy="10972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9720" y="3931920"/>
            <a:ext cx="2697480" cy="254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40233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数据统计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4434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上座率 · 营收统计 · 可视化大屏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iseatspace · utf8mb4 · 19 张表 · InnoDB 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697480" cy="13716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6974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80160"/>
            <a:ext cx="2697480" cy="13716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80160"/>
            <a:ext cx="269748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63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  <a:latin typeface="Microsoft YaHei"/>
              </a:defRPr>
            </a:pPr>
            <a:r>
              <a:t>100+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字段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2697480" cy="13716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269748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4D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迁移脚本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280160"/>
            <a:ext cx="2697480" cy="13716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280160"/>
            <a:ext cx="269748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63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100"/>
                </a:solidFill>
                <a:latin typeface="Microsoft YaHei"/>
              </a:defRPr>
            </a:pPr>
            <a:r>
              <a:t>15+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86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索引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26080"/>
            <a:ext cx="3566160" cy="23774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92608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核心业务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user 用户表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study_room 自习室表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seat 座位表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order 订单表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payment 支付表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check_in_record 签到记录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926080"/>
            <a:ext cx="3566160" cy="23774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2926080"/>
            <a:ext cx="356616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扩展功能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4290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card AI卡片表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rule 规则表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announcement 公告表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achievement 成就定义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user_achievement 用户成就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violation_record 违规记录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926080"/>
            <a:ext cx="3566160" cy="23774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2926080"/>
            <a:ext cx="35661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辅助支撑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4290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area 区域表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price_strategy 价格策略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order_detail 订单明细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payment_log 支付流水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seat_status_log 座位状态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seat_layout_item 布局元素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blacklist 黑名单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77840"/>
            <a:ext cx="11064240" cy="777240"/>
          </a:xfrm>
          <a:prstGeom prst="roundRect">
            <a:avLst/>
          </a:prstGeom>
          <a:solidFill>
            <a:srgbClr val="1A1212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577840"/>
            <a:ext cx="50800" cy="7772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623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100"/>
                </a:solidFill>
                <a:latin typeface="Microsoft YaHei"/>
              </a:defRPr>
            </a:pPr>
            <a:r>
              <a:t>Redis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座位状态 Hash  │  价格缓存 1h  │  分布式锁 3s  │  JWT Token 7d  │  黑名单  │  自习室信息 1h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微信小程序接口隔离设计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/api/auth/login → Android 端      /api/wx/user/login → 微信小程序端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独立 Wx*Controller 类  ·  独立 DTO 映射  ·  与原有接口完全隔离  ·  统一 JWT 认证  ·  统一 {code, message, data} 响应格式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08960"/>
            <a:ext cx="269748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5 个接口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登录 · 信息 · 修改 · 头像 · 首页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108960"/>
            <a:ext cx="269748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310896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200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自习室模块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66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2 个接口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0233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列表 · 详情(含规则)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108960"/>
            <a:ext cx="269748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10896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00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座位模块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3 个接口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列表 · 布局 · 详情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108960"/>
            <a:ext cx="269748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310896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2004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预约模块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5661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5 个接口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233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创建 · 列表 · 详情 · 取消 · 规则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00600"/>
            <a:ext cx="269748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80060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92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签到模块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4 个接口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715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签到 · 签退 · 记录 · 状态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4800600"/>
            <a:ext cx="269748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000" y="480060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0" y="4892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公告/规则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4 个接口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715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公告列表/详情 · 规则列表/详情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800600"/>
            <a:ext cx="269748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80060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892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卡片模块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5 个接口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715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生成 · 流式 · 详情 · 列表 · 图片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89720" y="4800600"/>
            <a:ext cx="269748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89720" y="4800600"/>
            <a:ext cx="26974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4892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总计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2578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28 个接口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715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C5"/>
                </a:solidFill>
                <a:latin typeface="Microsoft YaHei"/>
              </a:defRPr>
            </a:pPr>
            <a:r>
              <a:t>28 个独立微信小程序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 智能能力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Microsoft YaHei"/>
              </a:defRPr>
            </a:pPr>
            <a:r>
              <a:t>DeepSeek 大模型 + 火山引擎即梦AI文生图 3.0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949440" cy="47548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9494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Microsoft YaHei"/>
              </a:defRPr>
            </a:pPr>
            <a:r>
              <a:t>AI 卡片生成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学习完成后，根据学习时长自动生成可收藏的 AI 卡片。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稀有度体系： N (40%)  →  R (30%)  →  SR (20%)  →  SSR (8%)  →  UR (1.5%)  →  LR (0.5%)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主题类别： 励志成长  ·  名人与历史  ·  哲思感悟  ·  自然意象  ·  科技未来  ·  温柔陪伴  ·  隐藏主题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文本生成： DeepSeek API → SSE 流式逐字返回，沉浸式体验</a:t>
            </a:r>
          </a:p>
          <a:p>
            <a:pPr>
              <a:spcAft>
                <a:spcPts val="8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图片生成： 火山引擎即梦AI文生图 3.0 → 自动下载并本地存储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09090"/>
                </a:solidFill>
                <a:latin typeface="Microsoft YaHei"/>
              </a:defRPr>
            </a:pPr>
            <a: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Microsoft YaHei"/>
              </a:defRPr>
            </a:pPr>
            <a: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4DFF"/>
                </a:solidFill>
                <a:latin typeface="Microsoft YaHei"/>
              </a:defRPr>
            </a:pPr>
            <a:r>
              <a:t>SSR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100"/>
                </a:solidFill>
                <a:latin typeface="Microsoft YaHei"/>
              </a:defRPr>
            </a:pPr>
            <a:r>
              <a:t>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081"/>
                </a:solidFill>
                <a:latin typeface="Microsoft YaHei"/>
              </a:defRPr>
            </a:pPr>
            <a:r>
              <a:t>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0.5%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371600"/>
            <a:ext cx="3749039" cy="219456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1371600"/>
            <a:ext cx="3749039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46304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角色对话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874520"/>
            <a:ext cx="347471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多角色扮演（客服/历史人物）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SSE 流式打字机效果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会话历史管理与上下文保持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DeepSeek API 驱动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支持非流式 + 流式双模式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840480"/>
            <a:ext cx="3749039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3840480"/>
            <a:ext cx="3749039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3931920"/>
            <a:ext cx="3474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 Agent 智能助手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34340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智能工具调用（自习室/座位/预约）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多轮复杂对话，自动理解意图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参数校验与自动纠错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上下文管理，对话连贯性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DeepSeek API Function Calling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多端协同实现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微信小程序 · 用户端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微信一键登录，无缝体验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自习室浏览与座位图可视化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在线预约、支付、签到签退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AI 卡片收集与学习统计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28 个专用 API 接口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ECharts + Canvas 可视化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566160" cy="4572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Android App · 管理端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数据统计大屏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座位配置与可视化布局编辑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订单管理与用户黑名单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Kotlin + Jetpack MVVM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23 个 ViewModel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MPAndroidChart 图表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566160" cy="4572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Admin 后台 · 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745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React + Vite + Ant Design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自习室与座位批量配置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价格策略灵活设置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公告发布与规则管理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14 个管理页面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Docker 容器化部署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217920"/>
            <a:ext cx="11064240" cy="457200"/>
          </a:xfrm>
          <a:prstGeom prst="roundRect">
            <a:avLst/>
          </a:prstGeom>
          <a:solidFill>
            <a:srgbClr val="102530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6217920"/>
            <a:ext cx="508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三端共享同一 Spring Boot 后端服务， /api/ 和 /api/wx/ 双路径前缀实现接口隔离，统一 JWT 认证体系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安全与性能优化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38100"/>
          </a:xfrm>
          <a:prstGeom prst="rect">
            <a:avLst/>
          </a:prstGeom>
          <a:solidFill>
            <a:srgbClr val="FF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安全防护体系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JWT 无状态认证，Token 7天有效期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JwtInterceptor 拦截器 + 白名单机制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CORS 跨域请求控制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MyBatis #{} 预编译 → SQL 注入防护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文件上传限制 10MB，UUID 重命名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敏感密钥 → 环境变量注入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Sentry 实时错误监控与告警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CodeQL + Semgrep 安全扫描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5780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2578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高并发处理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Redis 分布式锁防止座位超卖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锁超时 3 秒自动释放，防止死锁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定时任务自动释放超时未支付订单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座位状态实时缓存，减少 DB 查询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Spring Task 定时调度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931920"/>
            <a:ext cx="5257800" cy="219456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3931920"/>
            <a:ext cx="52578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Redis 缓存（座位/价格/房间）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MySQL 多列索引优化查询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Docker 多阶段构建 (1GB → 200MB)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HikariCP 连接池管理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JaCoCo 后端测试覆盖率 61%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DevOps &amp; CI/CD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容器化部署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Dockerfile 多阶段构建（Maven → JRE）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Maven 依赖缓存加速构建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MySQL 8 + Redis 7 + Backend + Admin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docker-compose 一键启动全部服务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Docker Volume 持久化数据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.dockerignore 减小构建上下文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健康检查 + depends_on 启动控制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Nginx 反向代理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25780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25780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CI/CD 流水线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3 条 GitHub Actions 流水线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后端 · Android · 小程序 独立 CI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Codecov 覆盖率自动追踪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Main + Develop 双分支保护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JaCoCo / Jest 测试报告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931920"/>
            <a:ext cx="5257800" cy="219456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3931920"/>
            <a:ext cx="52578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快速启动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git clone 项目 → 配置 .env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docker-compose up -d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Backend :8680  |  Admin :3001</a:t>
            </a:r>
          </a:p>
          <a:p>
            <a:pPr>
              <a:spcAft>
                <a:spcPts val="500"/>
              </a:spcAft>
              <a:defRPr sz="1200">
                <a:solidFill>
                  <a:srgbClr val="B0BEC5"/>
                </a:solidFill>
                <a:latin typeface="Microsoft YaHei"/>
              </a:defRPr>
            </a:pPr>
            <a:r>
              <a:t>· MySQL :3306  |  Redis :6379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多端协同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一套后端服务同时支撑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微信小程序、Android、Web 三端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813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7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AI 深度融合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DeepSeek 大模型驱动对话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AI 卡片游戏化激励学习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Agent 工具自动调用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4813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C4D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接口隔离设计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微信小程序 /api/wx/ 独立路由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独立 Controller + DTO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与原有接口互不影响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4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56616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873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1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788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高并发处理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Redis 分布式锁防止超卖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定时任务自动释放超时订单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座位状态实时缓存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97764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977640"/>
            <a:ext cx="3566160" cy="38100"/>
          </a:xfrm>
          <a:prstGeom prst="rect">
            <a:avLst/>
          </a:prstGeom>
          <a:solidFill>
            <a:srgbClr val="FF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0873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4081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1788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完善 DevOps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920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Docker 容器化一键部署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3 条 CI 流水线自动化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Codecov 覆盖率追踪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97764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397764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0873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1788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安全可靠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8920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JWT 认证 + 拦截器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SQL 注入防护 + 文件校验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CodeQL 安全扫描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项目数据一览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69748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6974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69748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269748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269748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269748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4D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Mapper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188720"/>
            <a:ext cx="269748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188720"/>
            <a:ext cx="269748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7160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9100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1945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66160"/>
            <a:ext cx="269748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2697480" cy="38100"/>
          </a:xfrm>
          <a:prstGeom prst="rect">
            <a:avLst/>
          </a:prstGeom>
          <a:solidFill>
            <a:srgbClr val="FF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49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4081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API 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3566160"/>
            <a:ext cx="269748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566160"/>
            <a:ext cx="26974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749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572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微信API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566160"/>
            <a:ext cx="269748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566160"/>
            <a:ext cx="269748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749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  <a:latin typeface="Microsoft YaHei"/>
              </a:defRPr>
            </a:pPr>
            <a:r>
              <a:t>61%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72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后端覆盖率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3566160"/>
            <a:ext cx="269748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3566160"/>
            <a:ext cx="269748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374904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4DFF"/>
                </a:solidFill>
                <a:latin typeface="Microsoft YaHei"/>
              </a:defRPr>
            </a:pPr>
            <a:r>
              <a:t>25+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572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Microsoft YaHei"/>
              </a:defRPr>
            </a:pPr>
            <a:r>
              <a:t>测试类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035040"/>
            <a:ext cx="11064240" cy="59436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126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Microsoft YaHei"/>
              </a:defRPr>
            </a:pPr>
            <a:r>
              <a:t>Spring Boot 3.1.2  ·  MyBatis 3.0.2  ·  MySQL 8.0  ·  Redis 7  ·  JWT  ·  DeepSeek API  ·  Docker  ·  GitHub Actions  ·  Codecov  ·  Sentry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微信小程序展示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首页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自习室列表浏览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多条件筛选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56616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选座页面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座位图可视化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Canvas 绘制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5661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学习状态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签到计时 · 签退结算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学习时长统计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4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77640"/>
            <a:ext cx="356616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卡片收集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AI 卡片展示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稀有度收藏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7764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977640"/>
            <a:ext cx="3566160" cy="38100"/>
          </a:xfrm>
          <a:prstGeom prst="rect">
            <a:avLst/>
          </a:prstGeom>
          <a:solidFill>
            <a:srgbClr val="FF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规则公告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83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分类规则 · 公告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查看与阅读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977640"/>
            <a:ext cx="3566160" cy="22860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77640"/>
            <a:ext cx="35661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51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个人中心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83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用户信息 · 预约记录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成就徽章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D4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0" y="41148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274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949440" cy="274320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94944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Microsoft YaHei"/>
              </a:defRPr>
            </a:pPr>
            <a:r>
              <a:t>已交付成果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完整的自习室在线预订系统</a:t>
            </a:r>
          </a:p>
          <a:p>
            <a:pPr>
              <a:spcAft>
                <a:spcPts val="5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微信小程序 + Android + Web 三端协同</a:t>
            </a:r>
          </a:p>
          <a:p>
            <a:pPr>
              <a:spcAft>
                <a:spcPts val="5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AI 对话与卡片生成（DeepSeek + 即梦AI）</a:t>
            </a:r>
          </a:p>
          <a:p>
            <a:pPr>
              <a:spcAft>
                <a:spcPts val="5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高并发抢座方案（Redis 分布式锁）</a:t>
            </a:r>
          </a:p>
          <a:p>
            <a:pPr>
              <a:spcAft>
                <a:spcPts val="5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JWT 认证体系 + 安全防护</a:t>
            </a:r>
          </a:p>
          <a:p>
            <a:pPr>
              <a:spcAft>
                <a:spcPts val="5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28 个微信小程序专用接口</a:t>
            </a:r>
          </a:p>
          <a:p>
            <a:pPr>
              <a:spcAft>
                <a:spcPts val="5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Docker 容器化部署 + CI/CD 自动化</a:t>
            </a:r>
          </a:p>
          <a:p>
            <a:pPr>
              <a:spcAft>
                <a:spcPts val="5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19 张数据库表 · 61% 后端测试覆盖率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6949440" cy="210312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389120"/>
            <a:ext cx="6949440" cy="381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100"/>
                </a:solidFill>
                <a:latin typeface="Microsoft YaHei"/>
              </a:defRPr>
            </a:pPr>
            <a:r>
              <a:t>未来规划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接入更多 AI 模型（通义千问/文心一言）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增加排行榜、勋章等游戏化激励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WebSocket 实时座位状态推送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消息队列（RabbitMQ）服务解耦</a:t>
            </a:r>
          </a:p>
          <a:p>
            <a:pPr>
              <a:spcAft>
                <a:spcPts val="400"/>
              </a:spcAft>
              <a:defRPr sz="1300">
                <a:solidFill>
                  <a:srgbClr val="B0BEC5"/>
                </a:solidFill>
                <a:latin typeface="Microsoft YaHei"/>
              </a:defRPr>
            </a:pPr>
            <a:r>
              <a:t>· 微服务架构拆分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71600"/>
            <a:ext cx="3794760" cy="51206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371600"/>
            <a:ext cx="379476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4DFF"/>
                </a:solidFill>
                <a:latin typeface="Microsoft YaHei"/>
              </a:defRPr>
            </a:pPr>
            <a:r>
              <a:t>技术沉淀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Spring Boot 全栈开发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MyBatis ORM 实践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多端接口隔离设计模式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AI API 集成与 SSE 流式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Redis 分布式锁应用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Docker 多阶段构建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GitHub Actions CI/CD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JWT 认证与安全防护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Kotlin Jetpack MVVM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微信小程序原生开发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ECharts / Canvas 可视化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CodeQL 代码安全扫描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Sentry 错误监控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Flyway 数据库迁移</a:t>
            </a:r>
          </a:p>
          <a:p>
            <a:pPr>
              <a:spcAft>
                <a:spcPts val="300"/>
              </a:spcAft>
              <a:defRPr sz="1100">
                <a:solidFill>
                  <a:srgbClr val="B0BEC5"/>
                </a:solidFill>
                <a:latin typeface="Microsoft YaHei"/>
              </a:defRPr>
            </a:pPr>
            <a:r>
              <a:t>▸ 团队 Git 协作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0D4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7C4D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D4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2743200"/>
            <a:ext cx="246888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EC5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114800"/>
            <a:ext cx="5760720" cy="1463040"/>
          </a:xfrm>
          <a:prstGeom prst="roundRect">
            <a:avLst/>
          </a:prstGeom>
          <a:solidFill>
            <a:srgbClr val="141A2E"/>
          </a:solidFill>
          <a:ln w="6350">
            <a:solidFill>
              <a:srgbClr val="25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C6B7A"/>
                </a:solidFill>
                <a:latin typeface="Microsoft YaHei"/>
              </a:defRPr>
            </a:pPr>
            <a:r>
              <a:t>项目地址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709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Microsoft YaHei"/>
              </a:defRPr>
            </a:pPr>
            <a:r>
              <a:t>github.com/yu086868-ui/iStudySpot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1663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B7A"/>
                </a:solidFill>
                <a:latin typeface="Microsoft YaHei"/>
              </a:defRPr>
            </a:pPr>
            <a:r>
              <a:t>MIT 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62179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6B7A"/>
                </a:solidFill>
                <a:latin typeface="Microsoft YaHei"/>
              </a:defRPr>
            </a:pPr>
            <a:r>
              <a:t>余逸晨 · 黄益政 · 贺祥宇    2026 年 6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C6B7A"/>
                </a:solidFill>
                <a:latin typeface="Microsoft YaHe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